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la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02332" y="1917445"/>
            <a:ext cx="3659385" cy="908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7100">
                <a:solidFill>
                  <a:srgbClr val="4B0F2F"/>
                </a:solidFill>
                <a:latin typeface="Intro Bold"/>
              </a:rPr>
              <a:t>Quanto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71218" y="1917445"/>
            <a:ext cx="2610742" cy="908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7100">
                <a:solidFill>
                  <a:srgbClr val="FF6F68"/>
                </a:solidFill>
                <a:latin typeface="Intro Bold"/>
              </a:rPr>
              <a:t>custa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91461" y="1917445"/>
            <a:ext cx="4088705" cy="908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7100">
                <a:solidFill>
                  <a:srgbClr val="4B0F2F"/>
                </a:solidFill>
                <a:latin typeface="Intro Bold"/>
              </a:rPr>
              <a:t> para sua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8518" y="2927350"/>
            <a:ext cx="10685462" cy="908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7100">
                <a:solidFill>
                  <a:srgbClr val="4B0F2F"/>
                </a:solidFill>
                <a:latin typeface="Intro Bold"/>
              </a:rPr>
              <a:t>empresa um funcionário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740" y="3937254"/>
            <a:ext cx="10983019" cy="908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7100">
                <a:solidFill>
                  <a:srgbClr val="4B0F2F"/>
                </a:solidFill>
                <a:latin typeface="Intro Bold"/>
              </a:rPr>
              <a:t>não conseguir trabalhar?</a:t>
            </a:r>
          </a:p>
        </p:txBody>
      </p:sp>
    </p:spTree>
  </p:cSld>
  <p:clrMapOvr>
    <a:masterClrMapping/>
  </p:clrMapOvr>
  <p:transition spd="med" advTm="9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la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1819275"/>
            <a:ext cx="4733329" cy="450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3500">
                <a:solidFill>
                  <a:srgbClr val="4B0F2F"/>
                </a:solidFill>
                <a:latin typeface="Intro Book"/>
              </a:rPr>
              <a:t>Agora multiplique por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2441575"/>
            <a:ext cx="5391745" cy="2330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8300">
                <a:solidFill>
                  <a:srgbClr val="FF6F68"/>
                </a:solidFill>
                <a:latin typeface="Intro Bold"/>
              </a:rPr>
              <a:t>×100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4486275"/>
            <a:ext cx="4605734" cy="704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5500">
                <a:solidFill>
                  <a:srgbClr val="4B0F2F"/>
                </a:solidFill>
                <a:latin typeface="Intro Bold"/>
              </a:rPr>
              <a:t>funcionários.</a:t>
            </a:r>
          </a:p>
        </p:txBody>
      </p:sp>
    </p:spTree>
  </p:cSld>
  <p:clrMapOvr>
    <a:masterClrMapping/>
  </p:clrMapOvr>
  <p:transition spd="med" advTm="6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la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1647" y="1244600"/>
            <a:ext cx="8559204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5450">
                <a:solidFill>
                  <a:srgbClr val="4B0F2F"/>
                </a:solidFill>
                <a:latin typeface="Intro Bold"/>
              </a:rPr>
              <a:t>Um dia de falta não custa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70485" y="2101850"/>
            <a:ext cx="6041528" cy="193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5150">
                <a:solidFill>
                  <a:srgbClr val="FF6F68"/>
                </a:solidFill>
                <a:latin typeface="Intro Bold"/>
              </a:rPr>
              <a:t>R$ 54.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0540" y="3930650"/>
            <a:ext cx="7541418" cy="850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6650">
                <a:solidFill>
                  <a:srgbClr val="4B0F2F"/>
                </a:solidFill>
                <a:latin typeface="Intro Bold"/>
              </a:rPr>
              <a:t>Custa muito mais.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47975" y="5073650"/>
            <a:ext cx="5086548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600">
                <a:solidFill>
                  <a:srgbClr val="4B0F2F"/>
                </a:solidFill>
                <a:latin typeface="Intro Book"/>
              </a:rPr>
              <a:t>O salário é só a ponta do custo.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6216650"/>
            <a:ext cx="3977778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400">
                <a:solidFill>
                  <a:srgbClr val="8C6E7D"/>
                </a:solidFill>
                <a:latin typeface="Intro Book"/>
              </a:rPr>
              <a:t>Base: salário mínimo 2026 (R$ 1.621 ÷ 30 dias)</a:t>
            </a:r>
          </a:p>
        </p:txBody>
      </p:sp>
    </p:spTree>
  </p:cSld>
  <p:clrMapOvr>
    <a:masterClrMapping/>
  </p:clrMapOvr>
  <p:transition spd="med" advTm="9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la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39742" y="1797177"/>
            <a:ext cx="1103014" cy="190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5000">
                <a:solidFill>
                  <a:srgbClr val="FF6F68"/>
                </a:solidFill>
                <a:latin typeface="Intro Bold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2419" y="3492627"/>
            <a:ext cx="8437661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5400">
                <a:solidFill>
                  <a:srgbClr val="4B0F2F"/>
                </a:solidFill>
                <a:latin typeface="Intro Bold"/>
              </a:rPr>
              <a:t>A falta aparece no ponto.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5167" y="4260723"/>
            <a:ext cx="7464028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5400">
                <a:solidFill>
                  <a:srgbClr val="4B0F2F"/>
                </a:solidFill>
                <a:latin typeface="Intro Bold"/>
              </a:rPr>
              <a:t>O prejuízo aparece no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58695" y="4260723"/>
            <a:ext cx="3538636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5400">
                <a:solidFill>
                  <a:srgbClr val="FF6F68"/>
                </a:solidFill>
                <a:latin typeface="Intro Bold"/>
              </a:rPr>
              <a:t>resultado.</a:t>
            </a:r>
          </a:p>
        </p:txBody>
      </p:sp>
    </p:spTree>
  </p:cSld>
  <p:clrMapOvr>
    <a:masterClrMapping/>
  </p:clrMapOvr>
  <p:transition spd="med" advTm="60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la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31131" y="2082164"/>
            <a:ext cx="9520237" cy="831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6500">
                <a:solidFill>
                  <a:srgbClr val="4B0F2F"/>
                </a:solidFill>
                <a:latin typeface="Intro Bold"/>
              </a:rPr>
              <a:t>Você sabe quanto custa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95835" y="3006725"/>
            <a:ext cx="6790828" cy="831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6500">
                <a:solidFill>
                  <a:srgbClr val="FF6F68"/>
                </a:solidFill>
                <a:latin typeface="Intro Bold"/>
              </a:rPr>
              <a:t>1 dia de ausência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4339" y="3931285"/>
            <a:ext cx="6753820" cy="831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6500">
                <a:solidFill>
                  <a:srgbClr val="4B0F2F"/>
                </a:solidFill>
                <a:latin typeface="Intro Bold"/>
              </a:rPr>
              <a:t>na sua empresa?</a:t>
            </a:r>
          </a:p>
        </p:txBody>
      </p:sp>
    </p:spTree>
  </p:cSld>
  <p:clrMapOvr>
    <a:masterClrMapping/>
  </p:clrMapOvr>
  <p:transition spd="med" advTm="70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la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27088" y="2201545"/>
            <a:ext cx="8328322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800">
                <a:solidFill>
                  <a:srgbClr val="4B0F2F"/>
                </a:solidFill>
                <a:latin typeface="Intro Bold"/>
              </a:rPr>
              <a:t>Seu funcionário faltou 1 dia.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6422" y="2912745"/>
            <a:ext cx="8349654" cy="831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6500">
                <a:solidFill>
                  <a:srgbClr val="4B0F2F"/>
                </a:solidFill>
                <a:latin typeface="Intro Bold"/>
              </a:rPr>
              <a:t>Quanto sua empresa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62001" y="3837305"/>
            <a:ext cx="7658496" cy="831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6500">
                <a:solidFill>
                  <a:srgbClr val="FF6F68"/>
                </a:solidFill>
                <a:latin typeface="Intro Bold"/>
              </a:rPr>
              <a:t>realmente perdeu?</a:t>
            </a:r>
          </a:p>
        </p:txBody>
      </p:sp>
    </p:spTree>
  </p:cSld>
  <p:clrMapOvr>
    <a:masterClrMapping/>
  </p:clrMapOvr>
  <p:transition spd="med" advTm="70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la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57810" y="1421226"/>
            <a:ext cx="5666878" cy="156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250">
                <a:solidFill>
                  <a:srgbClr val="FF6F68"/>
                </a:solidFill>
                <a:latin typeface="Intro Bold"/>
              </a:rPr>
              <a:t>546 mil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4973" y="2894426"/>
            <a:ext cx="7092553" cy="603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700">
                <a:solidFill>
                  <a:srgbClr val="4B0F2F"/>
                </a:solidFill>
                <a:latin typeface="Intro Bold"/>
              </a:rPr>
              <a:t>afastamentos por saúde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2851" y="3563523"/>
            <a:ext cx="7556797" cy="603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700">
                <a:solidFill>
                  <a:srgbClr val="4B0F2F"/>
                </a:solidFill>
                <a:latin typeface="Intro Bold"/>
              </a:rPr>
              <a:t>mental no Brasil em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587" y="4516023"/>
            <a:ext cx="2689324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500">
                <a:solidFill>
                  <a:srgbClr val="FF6F68"/>
                </a:solidFill>
                <a:latin typeface="Intro Bold"/>
              </a:rPr>
              <a:t>+15% em um 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0464" y="5252623"/>
            <a:ext cx="352157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450">
                <a:solidFill>
                  <a:srgbClr val="8C6E7D"/>
                </a:solidFill>
                <a:latin typeface="Intro Book"/>
              </a:rPr>
              <a:t>Fonte: Ministério da Previdência Social</a:t>
            </a:r>
          </a:p>
        </p:txBody>
      </p:sp>
    </p:spTree>
  </p:cSld>
  <p:clrMapOvr>
    <a:masterClrMapping/>
  </p:clrMapOvr>
  <p:transition spd="med" advTm="90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la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21259" y="1426210"/>
            <a:ext cx="7939980" cy="146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1500">
                <a:solidFill>
                  <a:srgbClr val="FF6F68"/>
                </a:solidFill>
                <a:latin typeface="Intro Bold"/>
              </a:rPr>
              <a:t>4,1 milhões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6138" y="2931160"/>
            <a:ext cx="8290222" cy="577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500">
                <a:solidFill>
                  <a:srgbClr val="4B0F2F"/>
                </a:solidFill>
                <a:latin typeface="Intro Bold"/>
              </a:rPr>
              <a:t>de afastamentos temporários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28627" y="3571240"/>
            <a:ext cx="5925244" cy="577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500">
                <a:solidFill>
                  <a:srgbClr val="4B0F2F"/>
                </a:solidFill>
                <a:latin typeface="Intro Bold"/>
              </a:rPr>
              <a:t>do trabalho em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4320" y="4511040"/>
            <a:ext cx="2773858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600">
                <a:solidFill>
                  <a:srgbClr val="FF6F68"/>
                </a:solidFill>
                <a:latin typeface="Intro Bold"/>
              </a:rPr>
              <a:t>+17% em um 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3215" y="5253990"/>
            <a:ext cx="3636069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500">
                <a:solidFill>
                  <a:srgbClr val="8C6E7D"/>
                </a:solidFill>
                <a:latin typeface="Intro Book"/>
              </a:rPr>
              <a:t>Fonte: Ministério da Previdência Social</a:t>
            </a:r>
          </a:p>
        </p:txBody>
      </p:sp>
    </p:spTree>
  </p:cSld>
  <p:clrMapOvr>
    <a:masterClrMapping/>
  </p:clrMapOvr>
  <p:transition spd="med" advTm="90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la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2099" y="2228850"/>
            <a:ext cx="75183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5000">
                <a:solidFill>
                  <a:srgbClr val="4B0F2F"/>
                </a:solidFill>
                <a:latin typeface="Intro Bold"/>
              </a:rPr>
              <a:t>Estresse, afastamento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001" y="2940050"/>
            <a:ext cx="8890496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5000">
                <a:solidFill>
                  <a:srgbClr val="4B0F2F"/>
                </a:solidFill>
                <a:latin typeface="Intro Bold"/>
              </a:rPr>
              <a:t>presenteísmo têm um preço.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7306" y="3810000"/>
            <a:ext cx="6427886" cy="831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6500">
                <a:solidFill>
                  <a:srgbClr val="FF6F68"/>
                </a:solidFill>
                <a:latin typeface="Intro Bold"/>
              </a:rPr>
              <a:t>Você sabe qual?</a:t>
            </a:r>
          </a:p>
        </p:txBody>
      </p:sp>
    </p:spTree>
  </p:cSld>
  <p:clrMapOvr>
    <a:masterClrMapping/>
  </p:clrMapOvr>
  <p:transition spd="med" advTm="70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la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88408" y="1376146"/>
            <a:ext cx="3405683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750">
                <a:solidFill>
                  <a:srgbClr val="FF6F68"/>
                </a:solidFill>
                <a:latin typeface="Intro Bold"/>
              </a:rPr>
              <a:t>NR-1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42059" y="2652496"/>
            <a:ext cx="529838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400">
                <a:solidFill>
                  <a:srgbClr val="4B0F2F"/>
                </a:solidFill>
                <a:latin typeface="Intro Bold"/>
              </a:rPr>
              <a:t>não é só obrigação.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0021" y="3279775"/>
            <a:ext cx="5682456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400">
                <a:solidFill>
                  <a:srgbClr val="4B0F2F"/>
                </a:solidFill>
                <a:latin typeface="Intro Bold"/>
              </a:rPr>
              <a:t>É gestão de um risco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43944" y="3907053"/>
            <a:ext cx="529461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400">
                <a:solidFill>
                  <a:srgbClr val="FF6F68"/>
                </a:solidFill>
                <a:latin typeface="Intro Bold"/>
              </a:rPr>
              <a:t>que custa dinheiro.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4784" y="4935753"/>
            <a:ext cx="567293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2050">
                <a:solidFill>
                  <a:srgbClr val="4B0F2F"/>
                </a:solidFill>
                <a:latin typeface="Intro Book"/>
              </a:rPr>
              <a:t>Risco psicossocial também aparece no caixa.</a:t>
            </a:r>
          </a:p>
        </p:txBody>
      </p:sp>
    </p:spTree>
  </p:cSld>
  <p:clrMapOvr>
    <a:masterClrMapping/>
  </p:clrMapOvr>
  <p:transition spd="med" advTm="90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la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452021"/>
            <a:ext cx="266074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Intro Bold"/>
              </a:rPr>
              <a:t>NR-1  ·  RISCOS PSICOSSOCIAIS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2029871"/>
            <a:ext cx="3904357" cy="444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3450">
                <a:solidFill>
                  <a:srgbClr val="FFF7F2"/>
                </a:solidFill>
                <a:latin typeface="Intro Bold"/>
              </a:rPr>
              <a:t>Sua empresa está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2521452"/>
            <a:ext cx="3019425" cy="444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3450">
                <a:solidFill>
                  <a:srgbClr val="FFF7F2"/>
                </a:solidFill>
                <a:latin typeface="Intro Bold"/>
              </a:rPr>
              <a:t>pronta para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3169152"/>
            <a:ext cx="3600846" cy="1193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350">
                <a:solidFill>
                  <a:srgbClr val="FF6F68"/>
                </a:solidFill>
                <a:latin typeface="Intro Bold"/>
              </a:rPr>
              <a:t>NR-1?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4343902"/>
            <a:ext cx="3565028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400">
                <a:solidFill>
                  <a:srgbClr val="FFF7F2"/>
                </a:solidFill>
                <a:latin typeface="Intro Book"/>
              </a:rPr>
              <a:t>A Nexia faz grande parte desse caminho,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" y="4548728"/>
            <a:ext cx="237867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400">
                <a:solidFill>
                  <a:srgbClr val="FFF7F2"/>
                </a:solidFill>
                <a:latin typeface="Intro Book"/>
              </a:rPr>
              <a:t>com suporte e pós-venda.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190078"/>
            <a:ext cx="3214489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550">
                <a:solidFill>
                  <a:srgbClr val="4B0F2F"/>
                </a:solidFill>
                <a:latin typeface="Intro Bold"/>
              </a:rPr>
              <a:t>Entre e converse com a gente  →</a:t>
            </a:r>
          </a:p>
        </p:txBody>
      </p:sp>
    </p:spTree>
  </p:cSld>
  <p:clrMapOvr>
    <a:masterClrMapping/>
  </p:clrMapOvr>
  <p:transition spd="med" advTm="90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la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1235710"/>
            <a:ext cx="2404864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5350">
                <a:solidFill>
                  <a:srgbClr val="4B0F2F"/>
                </a:solidFill>
                <a:latin typeface="Intro Bold"/>
              </a:rPr>
              <a:t>Cuidar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2003806"/>
            <a:ext cx="977304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5350">
                <a:solidFill>
                  <a:srgbClr val="4B0F2F"/>
                </a:solidFill>
                <a:latin typeface="Intro Bold"/>
              </a:rPr>
              <a:t>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2771902"/>
            <a:ext cx="2105818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5350">
                <a:solidFill>
                  <a:srgbClr val="4B0F2F"/>
                </a:solidFill>
                <a:latin typeface="Intro Bold"/>
              </a:rPr>
              <a:t>saúde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3539998"/>
            <a:ext cx="1775618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5350">
                <a:solidFill>
                  <a:srgbClr val="4B0F2F"/>
                </a:solidFill>
                <a:latin typeface="Intro Bold"/>
              </a:rPr>
              <a:t>pode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4308094"/>
            <a:ext cx="1225946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5350">
                <a:solidFill>
                  <a:srgbClr val="4B0F2F"/>
                </a:solidFill>
                <a:latin typeface="Intro Bold"/>
              </a:rPr>
              <a:t>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" y="5076190"/>
            <a:ext cx="1842293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5350">
                <a:solidFill>
                  <a:srgbClr val="4B0F2F"/>
                </a:solidFill>
                <a:latin typeface="Intro Bold"/>
              </a:rPr>
              <a:t>caro.</a:t>
            </a:r>
          </a:p>
        </p:txBody>
      </p:sp>
    </p:spTree>
  </p:cSld>
  <p:clrMapOvr>
    <a:masterClrMapping/>
  </p:clrMapOvr>
  <p:transition spd="med" advTm="60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la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1334135"/>
            <a:ext cx="1621532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6000">
                <a:solidFill>
                  <a:srgbClr val="4B0F2F"/>
                </a:solidFill>
                <a:latin typeface="Intro Bold"/>
              </a:rPr>
              <a:t>Não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2187575"/>
            <a:ext cx="2523827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6000">
                <a:solidFill>
                  <a:srgbClr val="4B0F2F"/>
                </a:solidFill>
                <a:latin typeface="Intro Bold"/>
              </a:rPr>
              <a:t>cuidar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3041015"/>
            <a:ext cx="610393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6000">
                <a:solidFill>
                  <a:srgbClr val="4B0F2F"/>
                </a:solidFill>
                <a:latin typeface="Intro Bold"/>
              </a:rPr>
              <a:t>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3828415"/>
            <a:ext cx="5375076" cy="1117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800">
                <a:solidFill>
                  <a:srgbClr val="FF6F68"/>
                </a:solidFill>
                <a:latin typeface="Intro Bold"/>
              </a:rPr>
              <a:t>mais caro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4933315"/>
            <a:ext cx="2382142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6000">
                <a:solidFill>
                  <a:srgbClr val="4B0F2F"/>
                </a:solidFill>
                <a:latin typeface="Intro Bold"/>
              </a:rPr>
              <a:t>ainda.</a:t>
            </a:r>
          </a:p>
        </p:txBody>
      </p:sp>
    </p:spTree>
  </p:cSld>
  <p:clrMapOvr>
    <a:masterClrMapping/>
  </p:clrMapOvr>
  <p:transition spd="med" advTm="7000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la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1223518"/>
            <a:ext cx="4305696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300">
                <a:solidFill>
                  <a:srgbClr val="4B0F2F"/>
                </a:solidFill>
                <a:latin typeface="Intro Bold"/>
              </a:rPr>
              <a:t>Saúde na palma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1835150"/>
            <a:ext cx="2221408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300">
                <a:solidFill>
                  <a:srgbClr val="4B0F2F"/>
                </a:solidFill>
                <a:latin typeface="Intro Bold"/>
              </a:rPr>
              <a:t>da mão.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2446782"/>
            <a:ext cx="5319414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300">
                <a:solidFill>
                  <a:srgbClr val="FF6F68"/>
                </a:solidFill>
                <a:latin typeface="Intro Bold"/>
              </a:rPr>
              <a:t>Sem deslocamento.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4600" y="3288156"/>
            <a:ext cx="1772542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550">
                <a:solidFill>
                  <a:srgbClr val="4B0F2F"/>
                </a:solidFill>
                <a:latin typeface="Intro Bold"/>
              </a:rPr>
              <a:t>Clínico geral 24h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4600" y="3948556"/>
            <a:ext cx="2562026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550">
                <a:solidFill>
                  <a:srgbClr val="4B0F2F"/>
                </a:solidFill>
                <a:latin typeface="Intro Bold"/>
              </a:rPr>
              <a:t>Mais de 12 especialidades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4600" y="4596257"/>
            <a:ext cx="2163365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550">
                <a:solidFill>
                  <a:srgbClr val="4B0F2F"/>
                </a:solidFill>
                <a:latin typeface="Intro Bold"/>
              </a:rPr>
              <a:t>Psicologia e nutrição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4600" y="5253482"/>
            <a:ext cx="3952875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550">
                <a:solidFill>
                  <a:srgbClr val="4B0F2F"/>
                </a:solidFill>
                <a:latin typeface="Intro Bold"/>
              </a:rPr>
              <a:t>Clubes de benefícios nacional e regional</a:t>
            </a:r>
          </a:p>
        </p:txBody>
      </p:sp>
    </p:spTree>
  </p:cSld>
  <p:clrMapOvr>
    <a:masterClrMapping/>
  </p:clrMapOvr>
  <p:transition spd="med" advTm="9000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la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87859" y="1543050"/>
            <a:ext cx="900678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200">
                <a:solidFill>
                  <a:srgbClr val="4B0F2F"/>
                </a:solidFill>
                <a:latin typeface="Intro Bold"/>
              </a:rPr>
              <a:t>Quem já escolheu cuidar da equipe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9288" y="2933700"/>
            <a:ext cx="1825922" cy="958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7500">
                <a:solidFill>
                  <a:srgbClr val="FF6F68"/>
                </a:solidFill>
                <a:latin typeface="Intro Bold"/>
              </a:rPr>
              <a:t>+50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7960" y="4133850"/>
            <a:ext cx="228857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00">
                <a:solidFill>
                  <a:srgbClr val="4B0F2F"/>
                </a:solidFill>
                <a:latin typeface="Intro Bold"/>
              </a:rPr>
              <a:t>empresas clientes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32796" y="3067050"/>
            <a:ext cx="2716907" cy="781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6100">
                <a:solidFill>
                  <a:srgbClr val="FF6F68"/>
                </a:solidFill>
                <a:latin typeface="Intro Bold"/>
              </a:rPr>
              <a:t>+2.000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651" y="4133850"/>
            <a:ext cx="262919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00">
                <a:solidFill>
                  <a:srgbClr val="4B0F2F"/>
                </a:solidFill>
                <a:latin typeface="Intro Bold"/>
              </a:rPr>
              <a:t>pessoas beneficiadas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4891" y="2933700"/>
            <a:ext cx="2410717" cy="958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7500">
                <a:solidFill>
                  <a:srgbClr val="FF6F68"/>
                </a:solidFill>
                <a:latin typeface="Intro Bold"/>
              </a:rPr>
              <a:t>+200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6730" y="4133850"/>
            <a:ext cx="282703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00">
                <a:solidFill>
                  <a:srgbClr val="4B0F2F"/>
                </a:solidFill>
                <a:latin typeface="Intro Bold"/>
              </a:rPr>
              <a:t>profissionais parceiros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4445" y="5137150"/>
            <a:ext cx="4113609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500">
                <a:solidFill>
                  <a:srgbClr val="8C6E7D"/>
                </a:solidFill>
                <a:latin typeface="Intro Book"/>
              </a:rPr>
              <a:t>No Ceará, Rio Grande do Norte e Maranhão.</a:t>
            </a:r>
          </a:p>
        </p:txBody>
      </p:sp>
    </p:spTree>
  </p:cSld>
  <p:clrMapOvr>
    <a:masterClrMapping/>
  </p:clrMapOvr>
  <p:transition spd="med" advTm="9000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la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2556891"/>
            <a:ext cx="4717057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100">
                <a:solidFill>
                  <a:srgbClr val="4B0F2F"/>
                </a:solidFill>
                <a:latin typeface="Intro Bold"/>
              </a:rPr>
              <a:t>Cuidar de pessoas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3140075"/>
            <a:ext cx="4202211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100">
                <a:solidFill>
                  <a:srgbClr val="4B0F2F"/>
                </a:solidFill>
                <a:latin typeface="Intro Bold"/>
              </a:rPr>
              <a:t>é fazer negócios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3723258"/>
            <a:ext cx="687288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100">
                <a:solidFill>
                  <a:srgbClr val="4B0F2F"/>
                </a:solidFill>
                <a:latin typeface="Intro Bold"/>
              </a:rPr>
              <a:t>ir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5288" y="3723258"/>
            <a:ext cx="3002260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100">
                <a:solidFill>
                  <a:srgbClr val="FF6F68"/>
                </a:solidFill>
                <a:latin typeface="Intro Bold"/>
              </a:rPr>
              <a:t>mais longe.</a:t>
            </a:r>
          </a:p>
        </p:txBody>
      </p:sp>
    </p:spTree>
  </p:cSld>
  <p:clrMapOvr>
    <a:masterClrMapping/>
  </p:clrMapOvr>
  <p:transition spd="med" advTm="9000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la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1935099"/>
            <a:ext cx="5312866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900">
                <a:solidFill>
                  <a:srgbClr val="4B0F2F"/>
                </a:solidFill>
                <a:latin typeface="Intro Bold"/>
              </a:rPr>
              <a:t>Vamos conversar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2632075"/>
            <a:ext cx="4449861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900">
                <a:solidFill>
                  <a:srgbClr val="4B0F2F"/>
                </a:solidFill>
                <a:latin typeface="Intro Bold"/>
              </a:rPr>
              <a:t>sobre o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3329051"/>
            <a:ext cx="1063625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900">
                <a:solidFill>
                  <a:srgbClr val="4B0F2F"/>
                </a:solidFill>
                <a:latin typeface="Intro Bold"/>
              </a:rPr>
              <a:t>da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1625" y="3329051"/>
            <a:ext cx="3670597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4900">
                <a:solidFill>
                  <a:srgbClr val="FF6F68"/>
                </a:solidFill>
                <a:latin typeface="Intro Bold"/>
              </a:rPr>
              <a:t>sua equipe?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433951"/>
            <a:ext cx="370076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900">
                <a:solidFill>
                  <a:srgbClr val="4B0F2F"/>
                </a:solidFill>
                <a:latin typeface="Intro Bold"/>
              </a:rPr>
              <a:t>@nexiasaude  |  (88) 8191-1058</a:t>
            </a:r>
          </a:p>
        </p:txBody>
      </p:sp>
    </p:spTree>
  </p:cSld>
  <p:clrMapOvr>
    <a:masterClrMapping/>
  </p:clrMapOvr>
  <p:transition spd="med" advTm="9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